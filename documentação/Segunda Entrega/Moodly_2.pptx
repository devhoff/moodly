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67" r:id="rId4"/>
    <p:sldId id="269" r:id="rId5"/>
    <p:sldId id="259" r:id="rId6"/>
    <p:sldId id="265" r:id="rId7"/>
    <p:sldId id="258" r:id="rId8"/>
    <p:sldId id="261" r:id="rId9"/>
    <p:sldId id="271" r:id="rId10"/>
    <p:sldId id="273" r:id="rId11"/>
    <p:sldId id="263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ção Predefinida" id="{56D4DD0B-296A-4E9E-AF52-B49B0366D23D}">
          <p14:sldIdLst>
            <p14:sldId id="256"/>
            <p14:sldId id="257"/>
            <p14:sldId id="267"/>
            <p14:sldId id="269"/>
          </p14:sldIdLst>
        </p14:section>
        <p14:section name="Secção Sem Título" id="{0F84401A-527E-4B7C-BEF7-39096155FEFB}">
          <p14:sldIdLst>
            <p14:sldId id="259"/>
            <p14:sldId id="265"/>
            <p14:sldId id="258"/>
            <p14:sldId id="261"/>
            <p14:sldId id="271"/>
            <p14:sldId id="273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C646A"/>
    <a:srgbClr val="D4D41C"/>
    <a:srgbClr val="D6D5C2"/>
    <a:srgbClr val="D5D5C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5" d="100"/>
          <a:sy n="125" d="100"/>
        </p:scale>
        <p:origin x="90" y="-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>
            <a:extLst>
              <a:ext uri="{FF2B5EF4-FFF2-40B4-BE49-F238E27FC236}">
                <a16:creationId xmlns:a16="http://schemas.microsoft.com/office/drawing/2014/main" id="{0B2A29D9-125B-8D34-71DB-2667C798A43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1EC13C98-D997-7B76-26B7-A00B3C604D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318AD-9C23-4B9D-8A90-31DA069F7149}" type="datetimeFigureOut">
              <a:rPr lang="pt-PT" smtClean="0"/>
              <a:t>09/11/2025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1B606686-E10E-2072-65FB-F706612CDBE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5FD9C49E-F2C3-1428-FE74-B2741EB8101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5A31C1-FB54-488B-973A-F20CCFEDCAFE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0385043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EF5931-CCED-4D51-AE9C-F6E2B86CBE11}" type="datetimeFigureOut">
              <a:rPr lang="pt-PT" smtClean="0"/>
              <a:t>09/11/2025</a:t>
            </a:fld>
            <a:endParaRPr lang="pt-PT"/>
          </a:p>
        </p:txBody>
      </p:sp>
      <p:sp>
        <p:nvSpPr>
          <p:cNvPr id="4" name="Marcador de Posição da Imagem do Diapositivo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Marcador de Posição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5EAB5CF-FBB6-4192-82CA-808424B00EA8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47432745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35B62-D3D9-4B33-BC60-7313341E8EC2}" type="datetime1">
              <a:rPr lang="pt-PT" smtClean="0"/>
              <a:t>09/11/2025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162083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25A45-E7F3-4722-B7D9-A08DA7B50D3E}" type="datetime1">
              <a:rPr lang="pt-PT" smtClean="0"/>
              <a:t>09/11/2025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86093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54A7F7-9DCC-4631-ACEB-2554E39115E3}" type="datetime1">
              <a:rPr lang="pt-PT" smtClean="0"/>
              <a:t>09/11/2025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04815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75FF7-1F8F-4E9C-807C-72BDC106ABEE}" type="datetime1">
              <a:rPr lang="pt-PT" smtClean="0"/>
              <a:t>09/11/2025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71922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AC681-B831-4139-9916-CF4183D3B62E}" type="datetime1">
              <a:rPr lang="pt-PT" smtClean="0"/>
              <a:t>09/11/2025</a:t>
            </a:fld>
            <a:endParaRPr lang="pt-P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04016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63FCB2-7853-47FD-88BE-E9040B2BA946}" type="datetime1">
              <a:rPr lang="pt-PT" smtClean="0"/>
              <a:t>09/11/2025</a:t>
            </a:fld>
            <a:endParaRPr lang="pt-P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3515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A7A93-47F2-426C-9894-DA4C8118492B}" type="datetime1">
              <a:rPr lang="pt-PT" smtClean="0"/>
              <a:t>09/11/2025</a:t>
            </a:fld>
            <a:endParaRPr lang="pt-P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52898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B6A4D-7996-4BCC-8F33-DA45417CD667}" type="datetime1">
              <a:rPr lang="pt-PT" smtClean="0"/>
              <a:t>09/11/2025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9102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PT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266AB-6353-4079-90DD-222C58040375}" type="datetime1">
              <a:rPr lang="pt-PT" smtClean="0"/>
              <a:t>09/11/2025</a:t>
            </a:fld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42404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830A9-7F2F-4A90-B453-31D84369306C}" type="datetime1">
              <a:rPr lang="pt-PT" smtClean="0"/>
              <a:t>09/11/2025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14075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95F63-FD8B-42CF-B503-1C43524C3891}" type="datetime1">
              <a:rPr lang="pt-PT" smtClean="0"/>
              <a:t>09/11/2025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283291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18B1C6-2102-4D70-B2CB-A7657B424B98}" type="datetime1">
              <a:rPr lang="pt-PT" smtClean="0"/>
              <a:t>09/11/2025</a:t>
            </a:fld>
            <a:endParaRPr lang="pt-P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3E45D-A34D-4C1E-9C1D-F8CA47D18062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254455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F537CCCD-6758-62A3-ACE5-D2F3C62A9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1</a:t>
            </a:fld>
            <a:endParaRPr lang="pt-PT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705F352-A991-07C6-6B64-036369734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599" y="1409700"/>
            <a:ext cx="2457450" cy="245745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5E2E161-12A9-DD78-DA74-CEDCB81F7858}"/>
              </a:ext>
            </a:extLst>
          </p:cNvPr>
          <p:cNvSpPr txBox="1"/>
          <p:nvPr/>
        </p:nvSpPr>
        <p:spPr>
          <a:xfrm>
            <a:off x="4206541" y="3867150"/>
            <a:ext cx="433136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PT" sz="7200" dirty="0" err="1">
                <a:latin typeface="Amasis MT Pro Black" panose="020F0502020204030204" pitchFamily="18" charset="0"/>
              </a:rPr>
              <a:t>Moodly</a:t>
            </a:r>
            <a:endParaRPr lang="pt-PT" sz="7200" dirty="0">
              <a:latin typeface="Amasis MT Pro Black" panose="020F0502020204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0386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FBFF4EE-49C2-7022-AB8C-B9E7A1F1399A}"/>
              </a:ext>
            </a:extLst>
          </p:cNvPr>
          <p:cNvSpPr txBox="1"/>
          <p:nvPr/>
        </p:nvSpPr>
        <p:spPr>
          <a:xfrm>
            <a:off x="1187117" y="2043276"/>
            <a:ext cx="51174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 que é </a:t>
            </a:r>
            <a:r>
              <a:rPr lang="pt-PT" sz="4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Moodly</a:t>
            </a:r>
            <a:r>
              <a:rPr lang="pt-P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650B0D9-9218-1007-165B-D12D00AD5F3A}"/>
              </a:ext>
            </a:extLst>
          </p:cNvPr>
          <p:cNvSpPr txBox="1"/>
          <p:nvPr/>
        </p:nvSpPr>
        <p:spPr>
          <a:xfrm>
            <a:off x="1187117" y="3098382"/>
            <a:ext cx="491755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P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 </a:t>
            </a:r>
            <a:r>
              <a:rPr lang="pt-PT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Moodly</a:t>
            </a:r>
            <a:r>
              <a:rPr lang="pt-P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é uma aplicação mobile que ajuda estudantes universitários a fazer novas amizades através de interesses em comum — como:</a:t>
            </a:r>
          </a:p>
          <a:p>
            <a:pPr algn="just"/>
            <a:r>
              <a:rPr lang="pt-P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Música</a:t>
            </a:r>
          </a:p>
          <a:p>
            <a:pPr algn="just"/>
            <a:r>
              <a:rPr lang="pt-P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Filmes </a:t>
            </a:r>
          </a:p>
          <a:p>
            <a:pPr algn="just"/>
            <a:r>
              <a:rPr lang="pt-PT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Jogos.</a:t>
            </a:r>
          </a:p>
        </p:txBody>
      </p:sp>
      <p:pic>
        <p:nvPicPr>
          <p:cNvPr id="11" name="Imagem 10" descr="Uma imagem com símbolo, logótipo, amarelo, Retângulo&#10;&#10;Os conteúdos gerados por IA podem estar incorretos.">
            <a:extLst>
              <a:ext uri="{FF2B5EF4-FFF2-40B4-BE49-F238E27FC236}">
                <a16:creationId xmlns:a16="http://schemas.microsoft.com/office/drawing/2014/main" id="{2A1AABDF-9B2C-03A7-682C-AD377F7484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1350" y="1907173"/>
            <a:ext cx="2660983" cy="2733886"/>
          </a:xfrm>
          <a:prstGeom prst="rect">
            <a:avLst/>
          </a:prstGeom>
        </p:spPr>
      </p:pic>
      <p:sp>
        <p:nvSpPr>
          <p:cNvPr id="12" name="Marcador de Posição do Número do Diapositivo 11">
            <a:extLst>
              <a:ext uri="{FF2B5EF4-FFF2-40B4-BE49-F238E27FC236}">
                <a16:creationId xmlns:a16="http://schemas.microsoft.com/office/drawing/2014/main" id="{558C59E5-D8BB-B1E5-97D6-37451FC42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2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082204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FEDD2450-02D8-6851-2DDB-681A8C8227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3</a:t>
            </a:fld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4E1E2E-88B3-F94E-86A5-7884CD9DBA0C}"/>
              </a:ext>
            </a:extLst>
          </p:cNvPr>
          <p:cNvSpPr txBox="1"/>
          <p:nvPr/>
        </p:nvSpPr>
        <p:spPr>
          <a:xfrm>
            <a:off x="3372337" y="3190473"/>
            <a:ext cx="5447325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Melhorias para a Segunda Entrega</a:t>
            </a:r>
          </a:p>
          <a:p>
            <a:r>
              <a:rPr lang="pt-PT" sz="2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</a:t>
            </a:r>
            <a:r>
              <a:rPr lang="pt-PT" sz="25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Frontend</a:t>
            </a:r>
            <a:r>
              <a:rPr lang="pt-PT" sz="2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r>
              <a:rPr lang="pt-PT" sz="2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</a:t>
            </a:r>
            <a:r>
              <a:rPr lang="pt-PT" sz="25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Backend</a:t>
            </a:r>
            <a:r>
              <a:rPr lang="pt-PT" sz="2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.</a:t>
            </a:r>
          </a:p>
          <a:p>
            <a:r>
              <a:rPr lang="pt-PT" sz="2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-Base de dados.</a:t>
            </a:r>
            <a:endParaRPr lang="pt-AO" sz="25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Imagem 5" descr="Uma imagem com símbolo, logótipo, amarelo, Retângulo&#10;&#10;Os conteúdos gerados por IA podem estar incorretos.">
            <a:extLst>
              <a:ext uri="{FF2B5EF4-FFF2-40B4-BE49-F238E27FC236}">
                <a16:creationId xmlns:a16="http://schemas.microsoft.com/office/drawing/2014/main" id="{E726EEE7-6AE8-6141-637F-1AF785E9D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7528" y="280810"/>
            <a:ext cx="1780672" cy="182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37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12385-A28A-63BF-83BA-C4BE29E01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Número do Diapositivo 1">
            <a:extLst>
              <a:ext uri="{FF2B5EF4-FFF2-40B4-BE49-F238E27FC236}">
                <a16:creationId xmlns:a16="http://schemas.microsoft.com/office/drawing/2014/main" id="{11890F0F-88A5-8909-F930-874660AB37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4</a:t>
            </a:fld>
            <a:endParaRPr lang="pt-PT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5D5B846-5987-7723-3602-F5EA4EBE19E1}"/>
              </a:ext>
            </a:extLst>
          </p:cNvPr>
          <p:cNvSpPr txBox="1"/>
          <p:nvPr/>
        </p:nvSpPr>
        <p:spPr>
          <a:xfrm>
            <a:off x="3372337" y="957012"/>
            <a:ext cx="5447325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25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Melhorias para a Segunda Entrega</a:t>
            </a:r>
            <a:endParaRPr lang="pt-AO" sz="25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6" name="Imagem 5" descr="Uma imagem com símbolo, logótipo, amarelo, Retângulo&#10;&#10;Os conteúdos gerados por IA podem estar incorretos.">
            <a:extLst>
              <a:ext uri="{FF2B5EF4-FFF2-40B4-BE49-F238E27FC236}">
                <a16:creationId xmlns:a16="http://schemas.microsoft.com/office/drawing/2014/main" id="{02BDE5C1-3841-F839-1F63-E1855D0AB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1303" y="1427127"/>
            <a:ext cx="1780672" cy="1829457"/>
          </a:xfrm>
          <a:prstGeom prst="rect">
            <a:avLst/>
          </a:prstGeom>
        </p:spPr>
      </p:pic>
      <p:pic>
        <p:nvPicPr>
          <p:cNvPr id="10" name="Imagem 9" descr="Uma imagem com texto, captura de ecrã&#10;&#10;Os conteúdos gerados por IA podem estar incorretos.">
            <a:extLst>
              <a:ext uri="{FF2B5EF4-FFF2-40B4-BE49-F238E27FC236}">
                <a16:creationId xmlns:a16="http://schemas.microsoft.com/office/drawing/2014/main" id="{842D9270-9A53-08E2-21CF-7762A78237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281" y="1957137"/>
            <a:ext cx="1963100" cy="4201329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836A8514-34CD-82D9-E41F-1452F6486D29}"/>
              </a:ext>
            </a:extLst>
          </p:cNvPr>
          <p:cNvSpPr txBox="1"/>
          <p:nvPr/>
        </p:nvSpPr>
        <p:spPr>
          <a:xfrm>
            <a:off x="4508935" y="3180637"/>
            <a:ext cx="7562747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1-Melhoria na UI</a:t>
            </a:r>
          </a:p>
          <a:p>
            <a:r>
              <a:rPr lang="pt-PT" sz="3200" dirty="0"/>
              <a:t>2-Implementação dos Ecrãs</a:t>
            </a:r>
          </a:p>
          <a:p>
            <a:r>
              <a:rPr lang="pt-PT" sz="3200" dirty="0"/>
              <a:t>3-Navegação entre as telas no </a:t>
            </a:r>
            <a:r>
              <a:rPr lang="pt-PT" sz="3200" dirty="0" err="1"/>
              <a:t>AndroidStudio</a:t>
            </a:r>
            <a:endParaRPr lang="pt-PT" sz="3200" dirty="0"/>
          </a:p>
          <a:p>
            <a:endParaRPr lang="pt-PT" dirty="0"/>
          </a:p>
          <a:p>
            <a:endParaRPr lang="pt-PT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123FEEE-F61F-D326-3C6A-78AA2C0E562A}"/>
              </a:ext>
            </a:extLst>
          </p:cNvPr>
          <p:cNvSpPr txBox="1"/>
          <p:nvPr/>
        </p:nvSpPr>
        <p:spPr>
          <a:xfrm>
            <a:off x="5777090" y="1957136"/>
            <a:ext cx="238302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4400" dirty="0" err="1"/>
              <a:t>Frontend</a:t>
            </a:r>
            <a:endParaRPr lang="pt-PT" sz="4400" dirty="0"/>
          </a:p>
        </p:txBody>
      </p:sp>
      <p:pic>
        <p:nvPicPr>
          <p:cNvPr id="14" name="Imagem 13" descr="Uma imagem com texto, captura de ecrã, Tipo de letra, Gráficos&#10;&#10;Os conteúdos gerados por IA podem estar incorretos.">
            <a:extLst>
              <a:ext uri="{FF2B5EF4-FFF2-40B4-BE49-F238E27FC236}">
                <a16:creationId xmlns:a16="http://schemas.microsoft.com/office/drawing/2014/main" id="{9EFFA0AD-75CA-3322-00E8-97280D9F62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27" y="1957136"/>
            <a:ext cx="1963100" cy="420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1816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m 9" descr="Uma imagem com símbolo, logótipo, amarelo, Retângulo&#10;&#10;Os conteúdos gerados por IA podem estar incorretos.">
            <a:extLst>
              <a:ext uri="{FF2B5EF4-FFF2-40B4-BE49-F238E27FC236}">
                <a16:creationId xmlns:a16="http://schemas.microsoft.com/office/drawing/2014/main" id="{AFFDD83A-5157-92E8-794F-1F1A0A6E4B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0624" y="0"/>
            <a:ext cx="1908119" cy="1966702"/>
          </a:xfrm>
          <a:prstGeom prst="rect">
            <a:avLst/>
          </a:prstGeom>
        </p:spPr>
      </p:pic>
      <p:sp>
        <p:nvSpPr>
          <p:cNvPr id="11" name="Marcador de Posição do Número do Diapositivo 10">
            <a:extLst>
              <a:ext uri="{FF2B5EF4-FFF2-40B4-BE49-F238E27FC236}">
                <a16:creationId xmlns:a16="http://schemas.microsoft.com/office/drawing/2014/main" id="{136C1B3B-F304-3919-5296-D01E3FF24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17767" y="6500896"/>
            <a:ext cx="952499" cy="2743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4F3E45D-A34D-4C1E-9C1D-F8CA47D18062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B57DCF0-0ECD-F144-E7FD-C2A559C4EF83}"/>
              </a:ext>
            </a:extLst>
          </p:cNvPr>
          <p:cNvSpPr txBox="1"/>
          <p:nvPr/>
        </p:nvSpPr>
        <p:spPr>
          <a:xfrm>
            <a:off x="4174142" y="2509685"/>
            <a:ext cx="7795619" cy="35990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6A399BA7-730C-86DC-6AB9-6781A2043375}"/>
              </a:ext>
            </a:extLst>
          </p:cNvPr>
          <p:cNvSpPr txBox="1"/>
          <p:nvPr/>
        </p:nvSpPr>
        <p:spPr>
          <a:xfrm>
            <a:off x="2751461" y="1085075"/>
            <a:ext cx="591356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4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Backend</a:t>
            </a:r>
            <a:r>
              <a:rPr lang="pt-PT" sz="4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do </a:t>
            </a:r>
            <a:r>
              <a:rPr lang="pt-PT" sz="44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Moodly</a:t>
            </a:r>
            <a:endParaRPr lang="pt-AO" sz="44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3" name="Imagem 2" descr="Uma imagem com texto, óculos, Cara humana, captura de ecrã&#10;&#10;Os conteúdos gerados por IA podem estar incorretos.">
            <a:extLst>
              <a:ext uri="{FF2B5EF4-FFF2-40B4-BE49-F238E27FC236}">
                <a16:creationId xmlns:a16="http://schemas.microsoft.com/office/drawing/2014/main" id="{8FE329A4-F340-900C-36D7-2658A01C9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239" y="1085075"/>
            <a:ext cx="2416978" cy="541582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2839AD98-E4FD-4947-8581-82249429C5D1}"/>
              </a:ext>
            </a:extLst>
          </p:cNvPr>
          <p:cNvSpPr txBox="1"/>
          <p:nvPr/>
        </p:nvSpPr>
        <p:spPr>
          <a:xfrm>
            <a:off x="2751461" y="2117493"/>
            <a:ext cx="7752379" cy="23391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3200" dirty="0"/>
              <a:t>Estruturação do MVC;</a:t>
            </a:r>
          </a:p>
          <a:p>
            <a:r>
              <a:rPr lang="pt-PT" sz="3200" dirty="0"/>
              <a:t>Aplicação do </a:t>
            </a:r>
            <a:r>
              <a:rPr lang="pt-PT" sz="3200" dirty="0" err="1"/>
              <a:t>Springboot</a:t>
            </a:r>
            <a:r>
              <a:rPr lang="pt-PT" sz="3200" dirty="0"/>
              <a:t>;</a:t>
            </a:r>
          </a:p>
          <a:p>
            <a:r>
              <a:rPr lang="pt-PT" sz="3200" dirty="0"/>
              <a:t>Criação dos </a:t>
            </a:r>
            <a:r>
              <a:rPr lang="pt-PT" sz="3200" dirty="0" err="1"/>
              <a:t>EndPoints</a:t>
            </a:r>
            <a:r>
              <a:rPr lang="pt-PT" sz="3200" dirty="0"/>
              <a:t>;</a:t>
            </a:r>
          </a:p>
          <a:p>
            <a:r>
              <a:rPr lang="pt-PT" sz="3200" dirty="0"/>
              <a:t>Ligação entre a base de dados e o </a:t>
            </a:r>
            <a:r>
              <a:rPr lang="pt-PT" sz="3200" dirty="0" err="1"/>
              <a:t>backend</a:t>
            </a:r>
            <a:endParaRPr lang="pt-PT" sz="3200" dirty="0"/>
          </a:p>
          <a:p>
            <a:endParaRPr lang="pt-PT" dirty="0"/>
          </a:p>
        </p:txBody>
      </p:sp>
    </p:spTree>
    <p:extLst>
      <p:ext uri="{BB962C8B-B14F-4D97-AF65-F5344CB8AC3E}">
        <p14:creationId xmlns:p14="http://schemas.microsoft.com/office/powerpoint/2010/main" val="22814807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>
            <a:extLst>
              <a:ext uri="{FF2B5EF4-FFF2-40B4-BE49-F238E27FC236}">
                <a16:creationId xmlns:a16="http://schemas.microsoft.com/office/drawing/2014/main" id="{AE71A35C-34EE-E4A5-FF78-5A83CEBB8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050" y="1869591"/>
            <a:ext cx="4557550" cy="743856"/>
          </a:xfrm>
        </p:spPr>
        <p:txBody>
          <a:bodyPr/>
          <a:lstStyle/>
          <a:p>
            <a:r>
              <a:rPr lang="pt-PT" sz="4400" dirty="0">
                <a:solidFill>
                  <a:schemeClr val="tx1"/>
                </a:solidFill>
              </a:rPr>
              <a:t>Base de dados</a:t>
            </a:r>
          </a:p>
        </p:txBody>
      </p:sp>
      <p:sp>
        <p:nvSpPr>
          <p:cNvPr id="6" name="Marcador de Posição do Texto 5">
            <a:extLst>
              <a:ext uri="{FF2B5EF4-FFF2-40B4-BE49-F238E27FC236}">
                <a16:creationId xmlns:a16="http://schemas.microsoft.com/office/drawing/2014/main" id="{6D9BF772-B917-5048-23CB-93F749280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77050" y="2728979"/>
            <a:ext cx="6481656" cy="3811588"/>
          </a:xfrm>
        </p:spPr>
        <p:txBody>
          <a:bodyPr>
            <a:normAutofit/>
          </a:bodyPr>
          <a:lstStyle/>
          <a:p>
            <a:r>
              <a:rPr lang="pt-PT" sz="3200" dirty="0">
                <a:solidFill>
                  <a:schemeClr val="tx1"/>
                </a:solidFill>
              </a:rPr>
              <a:t>1-Criação da Base de dados;</a:t>
            </a:r>
          </a:p>
          <a:p>
            <a:r>
              <a:rPr lang="pt-PT" sz="3200" dirty="0">
                <a:solidFill>
                  <a:schemeClr val="tx1"/>
                </a:solidFill>
              </a:rPr>
              <a:t>2-Inserção das Entidades;</a:t>
            </a:r>
          </a:p>
          <a:p>
            <a:r>
              <a:rPr lang="pt-PT" sz="3200" dirty="0">
                <a:solidFill>
                  <a:schemeClr val="tx1"/>
                </a:solidFill>
              </a:rPr>
              <a:t>3-Inserção dos Atributos;</a:t>
            </a:r>
          </a:p>
          <a:p>
            <a:r>
              <a:rPr lang="pt-PT" sz="3200" dirty="0">
                <a:solidFill>
                  <a:schemeClr val="tx1"/>
                </a:solidFill>
              </a:rPr>
              <a:t>4-Diagrama relacional entre as entidades;</a:t>
            </a:r>
          </a:p>
          <a:p>
            <a:endParaRPr lang="pt-PT" dirty="0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A6684853-3ABC-31D4-6E32-645E284A7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6</a:t>
            </a:fld>
            <a:endParaRPr lang="pt-PT"/>
          </a:p>
        </p:txBody>
      </p:sp>
      <p:pic>
        <p:nvPicPr>
          <p:cNvPr id="17" name="Imagem 16" descr="Uma imagem com texto, captura de ecrã, multimédia&#10;&#10;Os conteúdos gerados por IA podem estar incorretos.">
            <a:extLst>
              <a:ext uri="{FF2B5EF4-FFF2-40B4-BE49-F238E27FC236}">
                <a16:creationId xmlns:a16="http://schemas.microsoft.com/office/drawing/2014/main" id="{1076228C-A09D-4EDD-E724-784DFC1481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94" y="856342"/>
            <a:ext cx="2448267" cy="5410955"/>
          </a:xfrm>
          <a:prstGeom prst="rect">
            <a:avLst/>
          </a:prstGeom>
        </p:spPr>
      </p:pic>
      <p:pic>
        <p:nvPicPr>
          <p:cNvPr id="19" name="Imagem 18" descr="Uma imagem com texto, captura de ecrã, Tipo de letra, design&#10;&#10;Os conteúdos gerados por IA podem estar incorretos.">
            <a:extLst>
              <a:ext uri="{FF2B5EF4-FFF2-40B4-BE49-F238E27FC236}">
                <a16:creationId xmlns:a16="http://schemas.microsoft.com/office/drawing/2014/main" id="{F78355D3-34E1-7E5E-2AC1-1605EF48B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5561" y="856342"/>
            <a:ext cx="2410161" cy="5410955"/>
          </a:xfrm>
          <a:prstGeom prst="rect">
            <a:avLst/>
          </a:prstGeom>
        </p:spPr>
      </p:pic>
      <p:pic>
        <p:nvPicPr>
          <p:cNvPr id="20" name="Imagem 19" descr="Uma imagem com símbolo, logótipo, amarelo, Retângulo&#10;&#10;Os conteúdos gerados por IA podem estar incorretos.">
            <a:extLst>
              <a:ext uri="{FF2B5EF4-FFF2-40B4-BE49-F238E27FC236}">
                <a16:creationId xmlns:a16="http://schemas.microsoft.com/office/drawing/2014/main" id="{E99E55EC-BB6A-A890-1017-A6F654B7EC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600" y="0"/>
            <a:ext cx="1701811" cy="1754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260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9EDF8F51-975F-EA35-B6EC-DD9ADD6B9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6643" y="75784"/>
            <a:ext cx="1390008" cy="1432684"/>
          </a:xfrm>
          <a:prstGeom prst="rect">
            <a:avLst/>
          </a:prstGeom>
        </p:spPr>
      </p:pic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2DA3433E-30E9-6B50-E5C8-0C01B6A08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7</a:t>
            </a:fld>
            <a:endParaRPr lang="pt-PT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9FD178CA-3E41-F0AE-AD3D-C7B1E072FFC4}"/>
              </a:ext>
            </a:extLst>
          </p:cNvPr>
          <p:cNvSpPr/>
          <p:nvPr/>
        </p:nvSpPr>
        <p:spPr>
          <a:xfrm>
            <a:off x="6962776" y="2743199"/>
            <a:ext cx="1352550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600" dirty="0" err="1">
                <a:solidFill>
                  <a:schemeClr val="tx1"/>
                </a:solidFill>
              </a:rPr>
              <a:t>User_Interest</a:t>
            </a:r>
            <a:endParaRPr lang="pt-PT" sz="1600" dirty="0">
              <a:solidFill>
                <a:schemeClr val="tx1"/>
              </a:solidFill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B14859A2-6998-52BC-C519-2278D30C09A2}"/>
              </a:ext>
            </a:extLst>
          </p:cNvPr>
          <p:cNvSpPr/>
          <p:nvPr/>
        </p:nvSpPr>
        <p:spPr>
          <a:xfrm>
            <a:off x="4657725" y="2833687"/>
            <a:ext cx="1352550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>
                <a:solidFill>
                  <a:schemeClr val="tx1"/>
                </a:solidFill>
              </a:rPr>
              <a:t>User</a:t>
            </a:r>
            <a:endParaRPr lang="pt-PT" dirty="0">
              <a:solidFill>
                <a:schemeClr val="tx1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A5D9418-8104-2EDB-4103-1FC10F279F4F}"/>
              </a:ext>
            </a:extLst>
          </p:cNvPr>
          <p:cNvSpPr/>
          <p:nvPr/>
        </p:nvSpPr>
        <p:spPr>
          <a:xfrm>
            <a:off x="2614242" y="2981324"/>
            <a:ext cx="1352550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Conexão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538EE24F-04FF-CB9A-1DEB-0180DB76F163}"/>
              </a:ext>
            </a:extLst>
          </p:cNvPr>
          <p:cNvSpPr/>
          <p:nvPr/>
        </p:nvSpPr>
        <p:spPr>
          <a:xfrm>
            <a:off x="266058" y="4629150"/>
            <a:ext cx="1352550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Estado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920F065A-DA8A-E768-3234-1A813391817F}"/>
              </a:ext>
            </a:extLst>
          </p:cNvPr>
          <p:cNvSpPr/>
          <p:nvPr/>
        </p:nvSpPr>
        <p:spPr>
          <a:xfrm>
            <a:off x="2457450" y="4581525"/>
            <a:ext cx="1419225" cy="4905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Invite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1EB48F7B-1373-0F99-50B5-8D1CC13EFA78}"/>
              </a:ext>
            </a:extLst>
          </p:cNvPr>
          <p:cNvSpPr/>
          <p:nvPr/>
        </p:nvSpPr>
        <p:spPr>
          <a:xfrm>
            <a:off x="5095875" y="4624387"/>
            <a:ext cx="1352550" cy="44767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>
                <a:solidFill>
                  <a:schemeClr val="tx1"/>
                </a:solidFill>
              </a:rPr>
              <a:t>Evento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5631081C-6C68-2B50-9A44-F16FF06741A2}"/>
              </a:ext>
            </a:extLst>
          </p:cNvPr>
          <p:cNvSpPr/>
          <p:nvPr/>
        </p:nvSpPr>
        <p:spPr>
          <a:xfrm>
            <a:off x="7639051" y="4524374"/>
            <a:ext cx="1352550" cy="4952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>
                <a:solidFill>
                  <a:schemeClr val="tx1"/>
                </a:solidFill>
              </a:rPr>
              <a:t>Group_Post</a:t>
            </a:r>
            <a:endParaRPr lang="pt-PT" dirty="0">
              <a:solidFill>
                <a:schemeClr val="tx1"/>
              </a:solidFill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A91E821B-C0C1-C8DB-5A71-3CBE10AF2AB5}"/>
              </a:ext>
            </a:extLst>
          </p:cNvPr>
          <p:cNvSpPr/>
          <p:nvPr/>
        </p:nvSpPr>
        <p:spPr>
          <a:xfrm>
            <a:off x="9354093" y="2867025"/>
            <a:ext cx="1352550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>
                <a:solidFill>
                  <a:schemeClr val="tx1"/>
                </a:solidFill>
              </a:rPr>
              <a:t>Interest</a:t>
            </a:r>
            <a:endParaRPr lang="pt-PT" dirty="0">
              <a:solidFill>
                <a:schemeClr val="tx1"/>
              </a:solidFill>
            </a:endParaRP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B5465D8E-8750-5533-D46A-3118AC58937D}"/>
              </a:ext>
            </a:extLst>
          </p:cNvPr>
          <p:cNvSpPr/>
          <p:nvPr/>
        </p:nvSpPr>
        <p:spPr>
          <a:xfrm>
            <a:off x="228600" y="2981325"/>
            <a:ext cx="1390008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sz="1400" dirty="0" err="1">
                <a:solidFill>
                  <a:schemeClr val="tx1"/>
                </a:solidFill>
              </a:rPr>
              <a:t>Estado_Conexão</a:t>
            </a:r>
            <a:endParaRPr lang="pt-PT" sz="1400" dirty="0">
              <a:solidFill>
                <a:schemeClr val="tx1"/>
              </a:solidFill>
            </a:endParaRPr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FE75865B-23E9-58A6-BAB5-20139AB22E03}"/>
              </a:ext>
            </a:extLst>
          </p:cNvPr>
          <p:cNvSpPr/>
          <p:nvPr/>
        </p:nvSpPr>
        <p:spPr>
          <a:xfrm>
            <a:off x="4991100" y="792126"/>
            <a:ext cx="1390008" cy="44767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PT" dirty="0" err="1">
                <a:solidFill>
                  <a:schemeClr val="tx1"/>
                </a:solidFill>
              </a:rPr>
              <a:t>Post</a:t>
            </a:r>
            <a:endParaRPr lang="pt-PT" dirty="0">
              <a:solidFill>
                <a:schemeClr val="tx1"/>
              </a:solidFill>
            </a:endParaRPr>
          </a:p>
        </p:txBody>
      </p:sp>
      <p:cxnSp>
        <p:nvCxnSpPr>
          <p:cNvPr id="17" name="Conexão reta unidirecional 16">
            <a:extLst>
              <a:ext uri="{FF2B5EF4-FFF2-40B4-BE49-F238E27FC236}">
                <a16:creationId xmlns:a16="http://schemas.microsoft.com/office/drawing/2014/main" id="{FDE1EE52-8376-B02A-0352-E174CAC22ED2}"/>
              </a:ext>
            </a:extLst>
          </p:cNvPr>
          <p:cNvCxnSpPr/>
          <p:nvPr/>
        </p:nvCxnSpPr>
        <p:spPr>
          <a:xfrm flipV="1">
            <a:off x="5600700" y="1239801"/>
            <a:ext cx="0" cy="1627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xão: Ângulo Reto 19">
            <a:extLst>
              <a:ext uri="{FF2B5EF4-FFF2-40B4-BE49-F238E27FC236}">
                <a16:creationId xmlns:a16="http://schemas.microsoft.com/office/drawing/2014/main" id="{A824965E-54D5-6ADD-AE83-AB96609FCA27}"/>
              </a:ext>
            </a:extLst>
          </p:cNvPr>
          <p:cNvCxnSpPr>
            <a:cxnSpLocks/>
          </p:cNvCxnSpPr>
          <p:nvPr/>
        </p:nvCxnSpPr>
        <p:spPr>
          <a:xfrm flipV="1">
            <a:off x="2614242" y="1015963"/>
            <a:ext cx="2386383" cy="195107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xão: Ângulo Reto 24">
            <a:extLst>
              <a:ext uri="{FF2B5EF4-FFF2-40B4-BE49-F238E27FC236}">
                <a16:creationId xmlns:a16="http://schemas.microsoft.com/office/drawing/2014/main" id="{47F52D4A-EA7F-714B-26C3-A87BB7F70FE7}"/>
              </a:ext>
            </a:extLst>
          </p:cNvPr>
          <p:cNvCxnSpPr>
            <a:endCxn id="7" idx="3"/>
          </p:cNvCxnSpPr>
          <p:nvPr/>
        </p:nvCxnSpPr>
        <p:spPr>
          <a:xfrm rot="10800000" flipV="1">
            <a:off x="3966793" y="3205160"/>
            <a:ext cx="690933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exão: Ângulo Reto 26">
            <a:extLst>
              <a:ext uri="{FF2B5EF4-FFF2-40B4-BE49-F238E27FC236}">
                <a16:creationId xmlns:a16="http://schemas.microsoft.com/office/drawing/2014/main" id="{087A8A40-41A9-947B-720E-751DC5D1B021}"/>
              </a:ext>
            </a:extLst>
          </p:cNvPr>
          <p:cNvCxnSpPr>
            <a:stCxn id="6" idx="3"/>
            <a:endCxn id="4" idx="1"/>
          </p:cNvCxnSpPr>
          <p:nvPr/>
        </p:nvCxnSpPr>
        <p:spPr>
          <a:xfrm flipV="1">
            <a:off x="6010275" y="2967037"/>
            <a:ext cx="952501" cy="90488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exão: Ângulo Reto 28">
            <a:extLst>
              <a:ext uri="{FF2B5EF4-FFF2-40B4-BE49-F238E27FC236}">
                <a16:creationId xmlns:a16="http://schemas.microsoft.com/office/drawing/2014/main" id="{B3E24626-3046-E9B3-D7EF-D8106D42275F}"/>
              </a:ext>
            </a:extLst>
          </p:cNvPr>
          <p:cNvCxnSpPr>
            <a:endCxn id="4" idx="3"/>
          </p:cNvCxnSpPr>
          <p:nvPr/>
        </p:nvCxnSpPr>
        <p:spPr>
          <a:xfrm rot="10800000" flipV="1">
            <a:off x="8315327" y="2967035"/>
            <a:ext cx="1038767" cy="1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Conexão reta unidirecional 30">
            <a:extLst>
              <a:ext uri="{FF2B5EF4-FFF2-40B4-BE49-F238E27FC236}">
                <a16:creationId xmlns:a16="http://schemas.microsoft.com/office/drawing/2014/main" id="{2BF495F2-4976-E2F8-246E-217AE89A160B}"/>
              </a:ext>
            </a:extLst>
          </p:cNvPr>
          <p:cNvCxnSpPr>
            <a:stCxn id="7" idx="1"/>
            <a:endCxn id="14" idx="3"/>
          </p:cNvCxnSpPr>
          <p:nvPr/>
        </p:nvCxnSpPr>
        <p:spPr>
          <a:xfrm flipH="1">
            <a:off x="1618608" y="3205162"/>
            <a:ext cx="99563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exão reta unidirecional 32">
            <a:extLst>
              <a:ext uri="{FF2B5EF4-FFF2-40B4-BE49-F238E27FC236}">
                <a16:creationId xmlns:a16="http://schemas.microsoft.com/office/drawing/2014/main" id="{91E85396-FE6D-176D-2985-CF07DDD682CC}"/>
              </a:ext>
            </a:extLst>
          </p:cNvPr>
          <p:cNvCxnSpPr>
            <a:stCxn id="8" idx="0"/>
            <a:endCxn id="14" idx="2"/>
          </p:cNvCxnSpPr>
          <p:nvPr/>
        </p:nvCxnSpPr>
        <p:spPr>
          <a:xfrm flipH="1" flipV="1">
            <a:off x="923604" y="3429000"/>
            <a:ext cx="18729" cy="12001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Conexão reta unidirecional 40">
            <a:extLst>
              <a:ext uri="{FF2B5EF4-FFF2-40B4-BE49-F238E27FC236}">
                <a16:creationId xmlns:a16="http://schemas.microsoft.com/office/drawing/2014/main" id="{242FBEF9-182A-C5CE-6ABC-286423FADB5C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1618608" y="4826792"/>
            <a:ext cx="838842" cy="2619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Conexão reta unidirecional 44">
            <a:extLst>
              <a:ext uri="{FF2B5EF4-FFF2-40B4-BE49-F238E27FC236}">
                <a16:creationId xmlns:a16="http://schemas.microsoft.com/office/drawing/2014/main" id="{30F48C33-626D-2143-781B-494AE1AF71D5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 flipV="1">
            <a:off x="3876675" y="4826792"/>
            <a:ext cx="1219200" cy="214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7" name="Conexão reta unidirecional 46">
            <a:extLst>
              <a:ext uri="{FF2B5EF4-FFF2-40B4-BE49-F238E27FC236}">
                <a16:creationId xmlns:a16="http://schemas.microsoft.com/office/drawing/2014/main" id="{8FFD3F52-67D9-98F9-5E6C-0056ADB22979}"/>
              </a:ext>
            </a:extLst>
          </p:cNvPr>
          <p:cNvCxnSpPr/>
          <p:nvPr/>
        </p:nvCxnSpPr>
        <p:spPr>
          <a:xfrm>
            <a:off x="5505450" y="3281362"/>
            <a:ext cx="0" cy="13430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Conexão: Ângulo Reto 48">
            <a:extLst>
              <a:ext uri="{FF2B5EF4-FFF2-40B4-BE49-F238E27FC236}">
                <a16:creationId xmlns:a16="http://schemas.microsoft.com/office/drawing/2014/main" id="{96BE42F2-EA1D-1776-C405-ECA4EB11D764}"/>
              </a:ext>
            </a:extLst>
          </p:cNvPr>
          <p:cNvCxnSpPr/>
          <p:nvPr/>
        </p:nvCxnSpPr>
        <p:spPr>
          <a:xfrm>
            <a:off x="5867400" y="3281362"/>
            <a:ext cx="1771651" cy="134302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Conexão reta unidirecional 50">
            <a:extLst>
              <a:ext uri="{FF2B5EF4-FFF2-40B4-BE49-F238E27FC236}">
                <a16:creationId xmlns:a16="http://schemas.microsoft.com/office/drawing/2014/main" id="{88003739-6A75-3D37-5E84-2A8D5DE31913}"/>
              </a:ext>
            </a:extLst>
          </p:cNvPr>
          <p:cNvCxnSpPr/>
          <p:nvPr/>
        </p:nvCxnSpPr>
        <p:spPr>
          <a:xfrm>
            <a:off x="6448425" y="5019673"/>
            <a:ext cx="1190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7EB8D17E-A4BB-A2BA-887B-D58D71EC4B74}"/>
              </a:ext>
            </a:extLst>
          </p:cNvPr>
          <p:cNvSpPr txBox="1"/>
          <p:nvPr/>
        </p:nvSpPr>
        <p:spPr>
          <a:xfrm>
            <a:off x="1294876" y="239230"/>
            <a:ext cx="263873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dirty="0"/>
              <a:t>Diagrama</a:t>
            </a:r>
          </a:p>
          <a:p>
            <a:r>
              <a:rPr lang="pt-PT" sz="3200" dirty="0"/>
              <a:t>Relacional</a:t>
            </a:r>
          </a:p>
        </p:txBody>
      </p:sp>
    </p:spTree>
    <p:extLst>
      <p:ext uri="{BB962C8B-B14F-4D97-AF65-F5344CB8AC3E}">
        <p14:creationId xmlns:p14="http://schemas.microsoft.com/office/powerpoint/2010/main" val="64944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FE74B20-D61B-A281-2AAD-C686BFC08F28}"/>
              </a:ext>
            </a:extLst>
          </p:cNvPr>
          <p:cNvSpPr txBox="1"/>
          <p:nvPr/>
        </p:nvSpPr>
        <p:spPr>
          <a:xfrm>
            <a:off x="3133557" y="657696"/>
            <a:ext cx="51567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Nossos planos de trabalho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3A4CEE5-E04C-AC30-7CBD-FB9B32A74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2373" y="107682"/>
            <a:ext cx="1390008" cy="1432684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1A48D33-1CAF-6578-0548-51CE6AE05BA6}"/>
              </a:ext>
            </a:extLst>
          </p:cNvPr>
          <p:cNvSpPr txBox="1"/>
          <p:nvPr/>
        </p:nvSpPr>
        <p:spPr>
          <a:xfrm>
            <a:off x="1008320" y="2011984"/>
            <a:ext cx="1017535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3200" strike="sngStrike" dirty="0">
                <a:solidFill>
                  <a:schemeClr val="bg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Fase 1 – Planeamento e Pesquisa Objetivos</a:t>
            </a:r>
            <a:endParaRPr lang="pt-PT" sz="3200" dirty="0">
              <a:solidFill>
                <a:schemeClr val="bg2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pt-PT" sz="3200" strike="sngStrike" dirty="0">
                <a:solidFill>
                  <a:schemeClr val="bg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Fase 2 – Design e Modelagem Objetivos</a:t>
            </a:r>
            <a:endParaRPr lang="pt-PT" sz="3200" dirty="0">
              <a:solidFill>
                <a:schemeClr val="bg2">
                  <a:lumMod val="75000"/>
                </a:schemeClr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  <a:p>
            <a:r>
              <a:rPr lang="pt-PT" sz="3200" strike="sngStrike" dirty="0">
                <a:solidFill>
                  <a:schemeClr val="bg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Fase 3 – Desenvolvimento </a:t>
            </a:r>
            <a:r>
              <a:rPr lang="pt-PT" sz="3200" strike="sngStrike" dirty="0" err="1">
                <a:solidFill>
                  <a:schemeClr val="bg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Backend</a:t>
            </a:r>
            <a:r>
              <a:rPr lang="pt-PT" sz="3200" strike="sngStrike" dirty="0">
                <a:solidFill>
                  <a:schemeClr val="bg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Objetivos</a:t>
            </a:r>
          </a:p>
          <a:p>
            <a:r>
              <a:rPr lang="pt-PT" sz="3200" strike="sngStrike" dirty="0">
                <a:solidFill>
                  <a:schemeClr val="bg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Fase 4 – Desenvolvimento </a:t>
            </a:r>
            <a:r>
              <a:rPr lang="pt-PT" sz="3200" strike="sngStrike" dirty="0" err="1">
                <a:solidFill>
                  <a:schemeClr val="bg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Frontend</a:t>
            </a:r>
            <a:r>
              <a:rPr lang="pt-PT" sz="3200" strike="sngStrike" dirty="0">
                <a:solidFill>
                  <a:schemeClr val="bg2">
                    <a:lumMod val="75000"/>
                  </a:schemeClr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Objetivos</a:t>
            </a:r>
          </a:p>
          <a:p>
            <a:r>
              <a:rPr lang="pt-PT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Fase 5 – Testes e Validação Objetivos</a:t>
            </a:r>
          </a:p>
          <a:p>
            <a:r>
              <a:rPr lang="pt-PT" sz="32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Fase 6 – Entrega e Apresentação Objetivos</a:t>
            </a:r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1B1B2617-A022-86F7-CADB-1F8743838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8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211404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85800" y="1313963"/>
            <a:ext cx="2024273" cy="2016366"/>
            <a:chOff x="0" y="0"/>
            <a:chExt cx="6502400" cy="6477000"/>
          </a:xfrm>
        </p:grpSpPr>
        <p:sp>
          <p:nvSpPr>
            <p:cNvPr id="3" name="Freeform 3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2"/>
              <a:stretch>
                <a:fillRect l="-11554" r="-11554" b="-85322"/>
              </a:stretch>
            </a:blipFill>
          </p:spPr>
          <p:txBody>
            <a:bodyPr/>
            <a:lstStyle/>
            <a:p>
              <a:endParaRPr lang="pt-AO" sz="1200"/>
            </a:p>
          </p:txBody>
        </p:sp>
        <p:sp>
          <p:nvSpPr>
            <p:cNvPr id="4" name="Freeform 4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365B6D"/>
            </a:solidFill>
          </p:spPr>
          <p:txBody>
            <a:bodyPr/>
            <a:lstStyle/>
            <a:p>
              <a:endParaRPr lang="pt-AO"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441073" y="3725390"/>
            <a:ext cx="4867141" cy="1450679"/>
          </a:xfrm>
          <a:custGeom>
            <a:avLst/>
            <a:gdLst/>
            <a:ahLst/>
            <a:cxnLst/>
            <a:rect l="l" t="t" r="r" b="b"/>
            <a:pathLst>
              <a:path w="7300712" h="2176018">
                <a:moveTo>
                  <a:pt x="0" y="0"/>
                </a:moveTo>
                <a:lnTo>
                  <a:pt x="7300712" y="0"/>
                </a:lnTo>
                <a:lnTo>
                  <a:pt x="7300712" y="2176018"/>
                </a:lnTo>
                <a:lnTo>
                  <a:pt x="0" y="2176018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/>
          <a:lstStyle/>
          <a:p>
            <a:endParaRPr lang="pt-AO" sz="1200"/>
          </a:p>
        </p:txBody>
      </p:sp>
      <p:sp>
        <p:nvSpPr>
          <p:cNvPr id="6" name="Freeform 6"/>
          <p:cNvSpPr/>
          <p:nvPr/>
        </p:nvSpPr>
        <p:spPr>
          <a:xfrm>
            <a:off x="4434158" y="741217"/>
            <a:ext cx="4867141" cy="1466509"/>
          </a:xfrm>
          <a:custGeom>
            <a:avLst/>
            <a:gdLst/>
            <a:ahLst/>
            <a:cxnLst/>
            <a:rect l="l" t="t" r="r" b="b"/>
            <a:pathLst>
              <a:path w="7300712" h="2199764">
                <a:moveTo>
                  <a:pt x="0" y="0"/>
                </a:moveTo>
                <a:lnTo>
                  <a:pt x="7300712" y="0"/>
                </a:lnTo>
                <a:lnTo>
                  <a:pt x="7300712" y="2199765"/>
                </a:lnTo>
                <a:lnTo>
                  <a:pt x="0" y="2199765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/>
          <a:lstStyle/>
          <a:p>
            <a:endParaRPr lang="pt-AO" sz="1200" dirty="0">
              <a:highlight>
                <a:srgbClr val="FFFF00"/>
              </a:highlight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10148" y="3401540"/>
            <a:ext cx="3327317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33"/>
              </a:lnSpc>
              <a:spcBef>
                <a:spcPct val="0"/>
              </a:spcBef>
            </a:pP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Idade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: 19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0148" y="3704986"/>
            <a:ext cx="3371561" cy="572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33"/>
              </a:lnSpc>
              <a:spcBef>
                <a:spcPct val="0"/>
              </a:spcBef>
            </a:pP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Curso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: </a:t>
            </a: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Licenciatura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em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Engenharia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Informática</a:t>
            </a:r>
            <a:endParaRPr lang="en-US" sz="1666" spc="6"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310148" y="4011902"/>
            <a:ext cx="3327317" cy="1162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33"/>
              </a:lnSpc>
            </a:pPr>
            <a:endParaRPr sz="1200" dirty="0"/>
          </a:p>
          <a:p>
            <a:pPr algn="just">
              <a:lnSpc>
                <a:spcPts val="2333"/>
              </a:lnSpc>
            </a:pPr>
            <a:endParaRPr sz="1200" dirty="0"/>
          </a:p>
          <a:p>
            <a:pPr algn="just">
              <a:lnSpc>
                <a:spcPts val="2333"/>
              </a:lnSpc>
            </a:pP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Instituição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: IADE</a:t>
            </a:r>
          </a:p>
          <a:p>
            <a:pPr algn="just">
              <a:lnSpc>
                <a:spcPts val="2333"/>
              </a:lnSpc>
              <a:spcBef>
                <a:spcPct val="0"/>
              </a:spcBef>
            </a:pPr>
            <a:r>
              <a:rPr lang="en-US" sz="1666" spc="6" dirty="0">
                <a:solidFill>
                  <a:srgbClr val="F7F7F7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0148" y="4317083"/>
            <a:ext cx="3327317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33"/>
              </a:lnSpc>
              <a:spcBef>
                <a:spcPct val="0"/>
              </a:spcBef>
            </a:pP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Localização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: </a:t>
            </a: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Alvalade</a:t>
            </a:r>
            <a:endParaRPr lang="en-US" sz="1666" spc="6"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10148" y="396486"/>
            <a:ext cx="2832946" cy="5725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dirty="0">
                <a:solidFill>
                  <a:srgbClr val="7030A0"/>
                </a:solidFill>
                <a:latin typeface="Barlow Bold"/>
                <a:ea typeface="Barlow Bold"/>
                <a:cs typeface="Barlow Bold"/>
                <a:sym typeface="Barlow Bold"/>
              </a:rPr>
              <a:t>João Silva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21703" y="292524"/>
            <a:ext cx="2085037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266" b="1" dirty="0">
                <a:solidFill>
                  <a:srgbClr val="7030A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MOTIVAÇÃO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096000" y="3341280"/>
            <a:ext cx="1764114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266" b="1" dirty="0">
                <a:solidFill>
                  <a:srgbClr val="7030A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SOLUÇÃO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13719" y="6140450"/>
            <a:ext cx="86563" cy="227883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  <a:spcBef>
                <a:spcPct val="0"/>
              </a:spcBef>
            </a:pPr>
            <a:r>
              <a:rPr lang="en-US" sz="1333">
                <a:solidFill>
                  <a:srgbClr val="293032"/>
                </a:solidFill>
                <a:latin typeface="Open Sans"/>
                <a:ea typeface="Open Sans"/>
                <a:cs typeface="Open Sans"/>
                <a:sym typeface="Open Sans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63393" y="828131"/>
            <a:ext cx="3822501" cy="27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O João é um caloiro e sente-se um pouco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34158" y="1115998"/>
            <a:ext cx="4867141" cy="27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deslocado. Não conhece ninguém e tem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34158" y="1400746"/>
            <a:ext cx="4867141" cy="27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 dirty="0" err="1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dificuldade</a:t>
            </a:r>
            <a:r>
              <a:rPr lang="en-US" sz="1666" spc="6" dirty="0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666" spc="6" dirty="0" err="1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em</a:t>
            </a:r>
            <a:r>
              <a:rPr lang="en-US" sz="1666" spc="6" dirty="0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666" spc="6" dirty="0" err="1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encontrar</a:t>
            </a:r>
            <a:r>
              <a:rPr lang="en-US" sz="1666" spc="6" dirty="0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666" spc="6" dirty="0" err="1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pessoas</a:t>
            </a:r>
            <a:r>
              <a:rPr lang="en-US" sz="1666" spc="6" dirty="0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 com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434158" y="1650513"/>
            <a:ext cx="4867141" cy="27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interesses parecidos fora das aulas.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41073" y="3851036"/>
            <a:ext cx="4867141" cy="27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Com o Moodly, o João pode descobrir outros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41073" y="4138902"/>
            <a:ext cx="4867141" cy="27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estudantes com gostos semelhantes - seja em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34158" y="4441966"/>
            <a:ext cx="4867141" cy="27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música, jogos ou tecnologia - e começar novas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39367" y="4674419"/>
            <a:ext cx="4867141" cy="2777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amizades de forma natural e descontraída.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685800" y="1313963"/>
            <a:ext cx="2024273" cy="2016366"/>
            <a:chOff x="0" y="0"/>
            <a:chExt cx="6502400" cy="6477000"/>
          </a:xfrm>
        </p:grpSpPr>
        <p:sp>
          <p:nvSpPr>
            <p:cNvPr id="3" name="Freeform 3"/>
            <p:cNvSpPr/>
            <p:nvPr/>
          </p:nvSpPr>
          <p:spPr>
            <a:xfrm>
              <a:off x="-23042" y="119185"/>
              <a:ext cx="6542159" cy="6244242"/>
            </a:xfrm>
            <a:custGeom>
              <a:avLst/>
              <a:gdLst/>
              <a:ahLst/>
              <a:cxnLst/>
              <a:rect l="l" t="t" r="r" b="b"/>
              <a:pathLst>
                <a:path w="6542159" h="6244242">
                  <a:moveTo>
                    <a:pt x="3271080" y="4996"/>
                  </a:moveTo>
                  <a:cubicBezTo>
                    <a:pt x="2154117" y="0"/>
                    <a:pt x="1119857" y="593026"/>
                    <a:pt x="559929" y="1559521"/>
                  </a:cubicBezTo>
                  <a:cubicBezTo>
                    <a:pt x="0" y="2526015"/>
                    <a:pt x="0" y="3718228"/>
                    <a:pt x="559929" y="4684723"/>
                  </a:cubicBezTo>
                  <a:cubicBezTo>
                    <a:pt x="1119857" y="5651217"/>
                    <a:pt x="2154117" y="6244243"/>
                    <a:pt x="3271080" y="6239248"/>
                  </a:cubicBezTo>
                  <a:cubicBezTo>
                    <a:pt x="4388043" y="6244243"/>
                    <a:pt x="5422303" y="5651217"/>
                    <a:pt x="5982231" y="4684723"/>
                  </a:cubicBezTo>
                  <a:cubicBezTo>
                    <a:pt x="6542160" y="3718229"/>
                    <a:pt x="6542160" y="2526015"/>
                    <a:pt x="5982231" y="1559521"/>
                  </a:cubicBezTo>
                  <a:cubicBezTo>
                    <a:pt x="5422303" y="593027"/>
                    <a:pt x="4388043" y="1"/>
                    <a:pt x="3271080" y="4996"/>
                  </a:cubicBezTo>
                  <a:close/>
                </a:path>
              </a:pathLst>
            </a:custGeom>
            <a:blipFill>
              <a:blip r:embed="rId2"/>
              <a:stretch>
                <a:fillRect l="223" t="-24931" r="223" b="-24931"/>
              </a:stretch>
            </a:blipFill>
          </p:spPr>
          <p:txBody>
            <a:bodyPr/>
            <a:lstStyle/>
            <a:p>
              <a:endParaRPr lang="pt-AO" sz="1200"/>
            </a:p>
          </p:txBody>
        </p:sp>
        <p:sp>
          <p:nvSpPr>
            <p:cNvPr id="4" name="Freeform 4"/>
            <p:cNvSpPr/>
            <p:nvPr/>
          </p:nvSpPr>
          <p:spPr>
            <a:xfrm>
              <a:off x="73038" y="66269"/>
              <a:ext cx="6350000" cy="6349987"/>
            </a:xfrm>
            <a:custGeom>
              <a:avLst/>
              <a:gdLst/>
              <a:ahLst/>
              <a:cxnLst/>
              <a:rect l="l" t="t" r="r" b="b"/>
              <a:pathLst>
                <a:path w="6350000" h="6349987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365B6D"/>
            </a:solidFill>
          </p:spPr>
          <p:txBody>
            <a:bodyPr/>
            <a:lstStyle/>
            <a:p>
              <a:endParaRPr lang="pt-AO" sz="1200"/>
            </a:p>
          </p:txBody>
        </p:sp>
      </p:grpSp>
      <p:sp>
        <p:nvSpPr>
          <p:cNvPr id="5" name="Freeform 5"/>
          <p:cNvSpPr/>
          <p:nvPr/>
        </p:nvSpPr>
        <p:spPr>
          <a:xfrm>
            <a:off x="4441073" y="3725390"/>
            <a:ext cx="4867141" cy="1450679"/>
          </a:xfrm>
          <a:custGeom>
            <a:avLst/>
            <a:gdLst/>
            <a:ahLst/>
            <a:cxnLst/>
            <a:rect l="l" t="t" r="r" b="b"/>
            <a:pathLst>
              <a:path w="7300712" h="2176018">
                <a:moveTo>
                  <a:pt x="0" y="0"/>
                </a:moveTo>
                <a:lnTo>
                  <a:pt x="7300712" y="0"/>
                </a:lnTo>
                <a:lnTo>
                  <a:pt x="7300712" y="2176018"/>
                </a:lnTo>
                <a:lnTo>
                  <a:pt x="0" y="2176018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/>
          <a:lstStyle/>
          <a:p>
            <a:endParaRPr lang="pt-AO" sz="1200"/>
          </a:p>
        </p:txBody>
      </p:sp>
      <p:sp>
        <p:nvSpPr>
          <p:cNvPr id="6" name="Freeform 6"/>
          <p:cNvSpPr/>
          <p:nvPr/>
        </p:nvSpPr>
        <p:spPr>
          <a:xfrm>
            <a:off x="4265587" y="696838"/>
            <a:ext cx="4867141" cy="1466509"/>
          </a:xfrm>
          <a:custGeom>
            <a:avLst/>
            <a:gdLst/>
            <a:ahLst/>
            <a:cxnLst/>
            <a:rect l="l" t="t" r="r" b="b"/>
            <a:pathLst>
              <a:path w="7300712" h="2199764">
                <a:moveTo>
                  <a:pt x="0" y="0"/>
                </a:moveTo>
                <a:lnTo>
                  <a:pt x="7300712" y="0"/>
                </a:lnTo>
                <a:lnTo>
                  <a:pt x="7300712" y="2199765"/>
                </a:lnTo>
                <a:lnTo>
                  <a:pt x="0" y="2199765"/>
                </a:lnTo>
                <a:lnTo>
                  <a:pt x="0" y="0"/>
                </a:lnTo>
                <a:close/>
              </a:path>
            </a:pathLst>
          </a:custGeom>
          <a:solidFill>
            <a:srgbClr val="7030A0"/>
          </a:solidFill>
        </p:spPr>
        <p:txBody>
          <a:bodyPr/>
          <a:lstStyle/>
          <a:p>
            <a:endParaRPr lang="pt-AO" sz="1200" dirty="0">
              <a:solidFill>
                <a:srgbClr val="7030A0"/>
              </a:solidFill>
              <a:highlight>
                <a:srgbClr val="000000"/>
              </a:highlight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10148" y="3401540"/>
            <a:ext cx="3327317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33"/>
              </a:lnSpc>
              <a:spcBef>
                <a:spcPct val="0"/>
              </a:spcBef>
            </a:pP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Idade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: 24 </a:t>
            </a: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anos</a:t>
            </a:r>
            <a:endParaRPr lang="en-US" sz="1666" spc="6" dirty="0"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10148" y="3704986"/>
            <a:ext cx="3371561" cy="5588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33"/>
              </a:lnSpc>
              <a:spcBef>
                <a:spcPct val="0"/>
              </a:spcBef>
            </a:pP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Curso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: </a:t>
            </a: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Mestrado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 </a:t>
            </a: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em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 Marketing e </a:t>
            </a: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Inovação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10148" y="4011902"/>
            <a:ext cx="3327317" cy="1148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33"/>
              </a:lnSpc>
            </a:pPr>
            <a:endParaRPr sz="1200" dirty="0"/>
          </a:p>
          <a:p>
            <a:pPr algn="just">
              <a:lnSpc>
                <a:spcPts val="2333"/>
              </a:lnSpc>
            </a:pPr>
            <a:endParaRPr sz="1200" dirty="0"/>
          </a:p>
          <a:p>
            <a:pPr algn="just">
              <a:lnSpc>
                <a:spcPts val="2333"/>
              </a:lnSpc>
            </a:pP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Instituição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: IADE</a:t>
            </a:r>
          </a:p>
          <a:p>
            <a:pPr algn="just">
              <a:lnSpc>
                <a:spcPts val="2333"/>
              </a:lnSpc>
              <a:spcBef>
                <a:spcPct val="0"/>
              </a:spcBef>
            </a:pPr>
            <a:r>
              <a:rPr lang="en-US" sz="1666" spc="6" dirty="0">
                <a:solidFill>
                  <a:srgbClr val="F7F7F7"/>
                </a:solidFill>
                <a:latin typeface="Barlow"/>
                <a:ea typeface="Barlow"/>
                <a:cs typeface="Barlow"/>
                <a:sym typeface="Barlow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10148" y="4317083"/>
            <a:ext cx="3327317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33"/>
              </a:lnSpc>
              <a:spcBef>
                <a:spcPct val="0"/>
              </a:spcBef>
            </a:pPr>
            <a:r>
              <a:rPr lang="en-US" sz="1666" spc="6" dirty="0" err="1">
                <a:latin typeface="Barlow"/>
                <a:ea typeface="Barlow"/>
                <a:cs typeface="Barlow"/>
                <a:sym typeface="Barlow"/>
              </a:rPr>
              <a:t>Localização</a:t>
            </a:r>
            <a:r>
              <a:rPr lang="en-US" sz="1666" spc="6" dirty="0">
                <a:latin typeface="Barlow"/>
                <a:ea typeface="Barlow"/>
                <a:cs typeface="Barlow"/>
                <a:sym typeface="Barlow"/>
              </a:rPr>
              <a:t>: Torres Vedras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26328" y="105100"/>
            <a:ext cx="2832946" cy="12009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53"/>
              </a:lnSpc>
            </a:pPr>
            <a:r>
              <a:rPr lang="en-US" sz="3466" b="1" dirty="0">
                <a:solidFill>
                  <a:srgbClr val="7030A0"/>
                </a:solidFill>
                <a:latin typeface="Barlow Bold"/>
                <a:ea typeface="Barlow Bold"/>
                <a:cs typeface="Barlow Bold"/>
                <a:sym typeface="Barlow Bold"/>
              </a:rPr>
              <a:t>Ana Bernardo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121703" y="292524"/>
            <a:ext cx="1963117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266" b="1" dirty="0">
                <a:solidFill>
                  <a:srgbClr val="7030A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MOTIVAÇÃO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121703" y="3351441"/>
            <a:ext cx="1710774" cy="3739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73"/>
              </a:lnSpc>
            </a:pPr>
            <a:r>
              <a:rPr lang="en-US" sz="2266" b="1" dirty="0">
                <a:solidFill>
                  <a:srgbClr val="7030A0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SOLUÇÃO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08109" y="6140450"/>
            <a:ext cx="97784" cy="226857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867"/>
              </a:lnSpc>
              <a:spcBef>
                <a:spcPct val="0"/>
              </a:spcBef>
            </a:pPr>
            <a:r>
              <a:rPr lang="en-US" sz="1333">
                <a:solidFill>
                  <a:srgbClr val="293032"/>
                </a:solidFill>
                <a:latin typeface="Open Sans"/>
                <a:ea typeface="Open Sans"/>
                <a:cs typeface="Open Sans"/>
                <a:sym typeface="Open Sans"/>
              </a:rPr>
              <a:t>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842643" y="828131"/>
            <a:ext cx="4064000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 A Ana mudou-se recentemente para Lisboa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434158" y="1115998"/>
            <a:ext cx="4867141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e sente-se um pouco sozinha. Apesar de ser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434158" y="1400746"/>
            <a:ext cx="4867141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sociável, tem dificuldade em criar novas conexões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064022" y="1650513"/>
            <a:ext cx="3417831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000000"/>
                </a:solidFill>
                <a:latin typeface="Barlow"/>
                <a:ea typeface="Barlow"/>
                <a:cs typeface="Barlow"/>
                <a:sym typeface="Barlow"/>
              </a:rPr>
              <a:t>fora do ambiente académico.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41073" y="3851036"/>
            <a:ext cx="4867141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 O Moodly ajuda-a a conhecer pessoas com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441073" y="4138902"/>
            <a:ext cx="4867141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interesses semelhantes, o que facilita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34158" y="4441966"/>
            <a:ext cx="4867141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a adaptação à cidade e o início de novas amizades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339367" y="4674419"/>
            <a:ext cx="4867141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33"/>
              </a:lnSpc>
              <a:spcBef>
                <a:spcPct val="0"/>
              </a:spcBef>
            </a:pPr>
            <a:r>
              <a:rPr lang="en-US" sz="1666" spc="6">
                <a:solidFill>
                  <a:srgbClr val="293032"/>
                </a:solidFill>
                <a:latin typeface="Barlow"/>
                <a:ea typeface="Barlow"/>
                <a:cs typeface="Barlow"/>
                <a:sym typeface="Barlow"/>
              </a:rPr>
              <a:t>genuínas.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3847D4C3-1A83-2F63-AB7E-9374DA1B4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359" y="1039387"/>
            <a:ext cx="1905171" cy="1963664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0B3F68DB-F2D1-E6DA-17CE-7326A480EDA7}"/>
              </a:ext>
            </a:extLst>
          </p:cNvPr>
          <p:cNvSpPr txBox="1"/>
          <p:nvPr/>
        </p:nvSpPr>
        <p:spPr>
          <a:xfrm>
            <a:off x="3241777" y="3003051"/>
            <a:ext cx="6160661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4000" dirty="0" err="1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Moodly,conecte</a:t>
            </a:r>
            <a:r>
              <a:rPr lang="pt-P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pessoas</a:t>
            </a:r>
          </a:p>
          <a:p>
            <a:r>
              <a:rPr lang="pt-P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		</a:t>
            </a:r>
          </a:p>
          <a:p>
            <a:r>
              <a:rPr lang="pt-PT" sz="40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		     Obrigado!</a:t>
            </a:r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10CC3B5C-998F-34F9-7C65-4D9AE114B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3E45D-A34D-4C1E-9C1D-F8CA47D18062}" type="slidenum">
              <a:rPr lang="pt-PT" smtClean="0"/>
              <a:t>11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424716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Office 2013 - 2022">
  <a:themeElements>
    <a:clrScheme name="Tema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1700</TotalTime>
  <Words>354</Words>
  <Application>Microsoft Office PowerPoint</Application>
  <PresentationFormat>Ecrã Panorâmico</PresentationFormat>
  <Paragraphs>94</Paragraphs>
  <Slides>11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10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11</vt:i4>
      </vt:variant>
    </vt:vector>
  </HeadingPairs>
  <TitlesOfParts>
    <vt:vector size="22" baseType="lpstr">
      <vt:lpstr>ADLaM Display</vt:lpstr>
      <vt:lpstr>Amasis MT Pro Black</vt:lpstr>
      <vt:lpstr>Aptos</vt:lpstr>
      <vt:lpstr>Arial</vt:lpstr>
      <vt:lpstr>Barlow</vt:lpstr>
      <vt:lpstr>Barlow Bold</vt:lpstr>
      <vt:lpstr>Barlow Semi-Bold</vt:lpstr>
      <vt:lpstr>Calibri</vt:lpstr>
      <vt:lpstr>Calibri Light</vt:lpstr>
      <vt:lpstr>Open Sans</vt:lpstr>
      <vt:lpstr>Tema Office 2013 - 2022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Base de dados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Moodly</dc:title>
  <dc:creator>Ângelo Almeida</dc:creator>
  <cp:lastModifiedBy>Isabel Mária</cp:lastModifiedBy>
  <cp:revision>10</cp:revision>
  <dcterms:created xsi:type="dcterms:W3CDTF">2025-10-05T07:28:33Z</dcterms:created>
  <dcterms:modified xsi:type="dcterms:W3CDTF">2025-11-09T23:11:24Z</dcterms:modified>
</cp:coreProperties>
</file>